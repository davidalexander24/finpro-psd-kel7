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lacial Indifference Bold" charset="1" panose="00000800000000000000"/>
      <p:regular r:id="rId16"/>
    </p:embeddedFont>
    <p:embeddedFont>
      <p:font typeface="Aileron Bold" charset="1" panose="00000800000000000000"/>
      <p:regular r:id="rId17"/>
    </p:embeddedFont>
    <p:embeddedFont>
      <p:font typeface="Aileron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35933" y="623642"/>
            <a:ext cx="14420735" cy="8045568"/>
          </a:xfrm>
          <a:custGeom>
            <a:avLst/>
            <a:gdLst/>
            <a:ahLst/>
            <a:cxnLst/>
            <a:rect r="r" b="b" t="t" l="l"/>
            <a:pathLst>
              <a:path h="8045568" w="14420735">
                <a:moveTo>
                  <a:pt x="0" y="0"/>
                </a:moveTo>
                <a:lnTo>
                  <a:pt x="14420734" y="0"/>
                </a:lnTo>
                <a:lnTo>
                  <a:pt x="14420734" y="8045568"/>
                </a:lnTo>
                <a:lnTo>
                  <a:pt x="0" y="8045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96275">
            <a:off x="274857" y="4077190"/>
            <a:ext cx="1834019" cy="2372999"/>
          </a:xfrm>
          <a:custGeom>
            <a:avLst/>
            <a:gdLst/>
            <a:ahLst/>
            <a:cxnLst/>
            <a:rect r="r" b="b" t="t" l="l"/>
            <a:pathLst>
              <a:path h="2372999" w="1834019">
                <a:moveTo>
                  <a:pt x="0" y="0"/>
                </a:moveTo>
                <a:lnTo>
                  <a:pt x="1834019" y="0"/>
                </a:lnTo>
                <a:lnTo>
                  <a:pt x="1834019" y="2372999"/>
                </a:lnTo>
                <a:lnTo>
                  <a:pt x="0" y="23729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53436" y="7867934"/>
            <a:ext cx="14433331" cy="1543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70"/>
              </a:lnSpc>
            </a:pPr>
            <a:r>
              <a:rPr lang="en-US" b="true" sz="7958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IPV4 PACKET PROCESSOR WITH EXACT-MATCH FIREWAL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77519" y="9459133"/>
            <a:ext cx="5385166" cy="4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7"/>
              </a:lnSpc>
            </a:pPr>
            <a:r>
              <a:rPr lang="en-US" b="true" sz="2041" spc="-57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DIGITAL SYSTEM DESIGN FINAL PROJECT</a:t>
            </a:r>
          </a:p>
          <a:p>
            <a:pPr algn="ctr" marL="0" indent="0" lvl="0">
              <a:lnSpc>
                <a:spcPts val="1837"/>
              </a:lnSpc>
            </a:pPr>
            <a:r>
              <a:rPr lang="en-US" b="true" sz="2041" spc="-57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GROUP 07: KAMILA, NICHOLAS, DAVID, DAFA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3874" y="1133437"/>
            <a:ext cx="17354321" cy="323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62"/>
              </a:lnSpc>
              <a:spcBef>
                <a:spcPct val="0"/>
              </a:spcBef>
            </a:pPr>
            <a:r>
              <a:rPr lang="en-US" b="true" sz="16803" spc="-336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</a:t>
            </a:r>
            <a:r>
              <a:rPr lang="en-US" b="true" sz="16803" spc="-336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</a:t>
            </a:r>
            <a:r>
              <a:rPr lang="en-US" b="true" sz="16803" spc="-336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</a:t>
            </a:r>
            <a:r>
              <a:rPr lang="en-US" b="true" sz="16803" spc="-336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 </a:t>
            </a:r>
            <a:r>
              <a:rPr lang="en-US" b="true" sz="16803" spc="-336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</a:t>
            </a:r>
            <a:r>
              <a:rPr lang="en-US" b="true" sz="16803" spc="-336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</a:t>
            </a:r>
            <a:r>
              <a:rPr lang="en-US" b="true" sz="16803" spc="-336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LAKAN</a:t>
            </a:r>
            <a:r>
              <a:rPr lang="en-US" b="true" sz="16803" spc="-336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 &amp; TUJUAN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18845" y="5991519"/>
            <a:ext cx="7055371" cy="266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b="true" sz="2199" spc="-65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P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EM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O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SE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AN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P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ET 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J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ING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AN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KONV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O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NAL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B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RBAS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 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SO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F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WA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MEM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 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KE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ERB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AT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AS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AN LA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C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Y 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D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AN THR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OU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GH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PU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TI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NGGI .</a:t>
            </a:r>
          </a:p>
          <a:p>
            <a:pPr algn="l">
              <a:lnSpc>
                <a:spcPts val="2683"/>
              </a:lnSpc>
            </a:pPr>
          </a:p>
          <a:p>
            <a:pPr algn="l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DI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BU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TUHKAN SO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LUS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 B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ER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B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AS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 PER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ANGK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AT 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KERA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 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(FPGA) 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U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TU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EMPR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O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ES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D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AT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SEC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RA 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P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AR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AL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DAN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D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ET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NI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ST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IK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.</a:t>
            </a:r>
          </a:p>
          <a:p>
            <a:pPr algn="l" marL="0" indent="0" lvl="0">
              <a:lnSpc>
                <a:spcPts val="268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591995" y="5924543"/>
            <a:ext cx="8677161" cy="299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322" indent="-236161" lvl="1">
              <a:lnSpc>
                <a:spcPts val="26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87" spc="-65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MERANCANG AKSE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ERATOR PER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AN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GKA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 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KE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U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NTUK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VAL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DA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HE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DER IPV4 (TTL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&amp; CHE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C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U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)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.</a:t>
            </a:r>
          </a:p>
          <a:p>
            <a:pPr algn="l">
              <a:lnSpc>
                <a:spcPts val="2668"/>
              </a:lnSpc>
              <a:spcBef>
                <a:spcPct val="0"/>
              </a:spcBef>
            </a:pPr>
          </a:p>
          <a:p>
            <a:pPr algn="l" marL="472322" indent="-236161" lvl="1">
              <a:lnSpc>
                <a:spcPts val="26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NG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IMP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EN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TASIK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EX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AC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T-M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TCH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FIR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WALL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B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RBAS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ROM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YANG EFI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N.</a:t>
            </a:r>
          </a:p>
          <a:p>
            <a:pPr algn="l">
              <a:lnSpc>
                <a:spcPts val="2668"/>
              </a:lnSpc>
              <a:spcBef>
                <a:spcPct val="0"/>
              </a:spcBef>
            </a:pPr>
          </a:p>
          <a:p>
            <a:pPr algn="l" marL="472322" indent="-236161" lvl="1">
              <a:lnSpc>
                <a:spcPts val="26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MEN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ER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APK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A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RS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ITE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UR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CROPROGR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AM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ED 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CON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TR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OL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UNTU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FL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KS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B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LITA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 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EKSEK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U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SI</a:t>
            </a:r>
            <a:r>
              <a:rPr lang="en-US" b="true" sz="2187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.</a:t>
            </a:r>
          </a:p>
          <a:p>
            <a:pPr algn="l" marL="0" indent="0" lvl="0">
              <a:lnSpc>
                <a:spcPts val="2668"/>
              </a:lnSpc>
              <a:spcBef>
                <a:spcPct val="0"/>
              </a:spcBef>
            </a:pPr>
          </a:p>
        </p:txBody>
      </p:sp>
      <p:sp>
        <p:nvSpPr>
          <p:cNvPr name="AutoShape 5" id="5"/>
          <p:cNvSpPr/>
          <p:nvPr/>
        </p:nvSpPr>
        <p:spPr>
          <a:xfrm>
            <a:off x="0" y="9565857"/>
            <a:ext cx="18288000" cy="0"/>
          </a:xfrm>
          <a:prstGeom prst="line">
            <a:avLst/>
          </a:prstGeom>
          <a:ln cap="flat" w="19050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169805" y="4664479"/>
            <a:ext cx="18288000" cy="0"/>
          </a:xfrm>
          <a:prstGeom prst="line">
            <a:avLst/>
          </a:prstGeom>
          <a:ln cap="flat" w="19050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18845" y="5310974"/>
            <a:ext cx="4118309" cy="327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8"/>
              </a:lnSpc>
              <a:spcBef>
                <a:spcPct val="0"/>
              </a:spcBef>
            </a:pPr>
            <a:r>
              <a:rPr lang="en-US" b="true" sz="2187" spc="-65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LATAR BELAKANG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12266" y="5310974"/>
            <a:ext cx="4118309" cy="327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8"/>
              </a:lnSpc>
              <a:spcBef>
                <a:spcPct val="0"/>
              </a:spcBef>
            </a:pPr>
            <a:r>
              <a:rPr lang="en-US" b="true" sz="2187" spc="-65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TUJUAN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0203" y="4169234"/>
            <a:ext cx="6762145" cy="4956088"/>
          </a:xfrm>
          <a:custGeom>
            <a:avLst/>
            <a:gdLst/>
            <a:ahLst/>
            <a:cxnLst/>
            <a:rect r="r" b="b" t="t" l="l"/>
            <a:pathLst>
              <a:path h="4956088" w="6762145">
                <a:moveTo>
                  <a:pt x="0" y="0"/>
                </a:moveTo>
                <a:lnTo>
                  <a:pt x="6762145" y="0"/>
                </a:lnTo>
                <a:lnTo>
                  <a:pt x="6762145" y="4956089"/>
                </a:lnTo>
                <a:lnTo>
                  <a:pt x="0" y="4956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65855" y="781655"/>
            <a:ext cx="12093445" cy="3788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631"/>
              </a:lnSpc>
            </a:pPr>
            <a:r>
              <a:rPr lang="en-US" b="true" sz="11199" spc="-1119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</a:t>
            </a:r>
            <a:r>
              <a:rPr lang="en-US" b="true" sz="11199" spc="-1119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ESKRIPSI SI</a:t>
            </a:r>
            <a:r>
              <a:rPr lang="en-US" b="true" sz="11199" spc="-1119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STEM (SYSTEM</a:t>
            </a:r>
            <a:r>
              <a:rPr lang="en-US" b="true" sz="11199" spc="-1119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b="true" sz="11199" spc="-1119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OV</a:t>
            </a:r>
            <a:r>
              <a:rPr lang="en-US" b="true" sz="11199" spc="-1119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ER</a:t>
            </a:r>
            <a:r>
              <a:rPr lang="en-US" b="true" sz="11199" spc="-1119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VIEW)</a:t>
            </a:r>
          </a:p>
          <a:p>
            <a:pPr algn="r" marL="0" indent="0" lvl="0">
              <a:lnSpc>
                <a:spcPts val="963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057758" y="3667604"/>
            <a:ext cx="8943648" cy="592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4"/>
              </a:lnSpc>
            </a:pPr>
            <a:r>
              <a:rPr lang="en-US" b="true" sz="2281" spc="-68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SIST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EM INI MENERIMA HEADER IPV4 (160-BIT) DAN MELAKUKAN PEMROSESAN BERIKUT SECARA SEKUENSIAL:</a:t>
            </a:r>
          </a:p>
          <a:p>
            <a:pPr algn="l" marL="492631" indent="-246315" lvl="1">
              <a:lnSpc>
                <a:spcPts val="3810"/>
              </a:lnSpc>
              <a:buAutoNum type="arabicPeriod" startAt="1"/>
            </a:pP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TTL PROCESSING: MENGURANGI NILAI TTL. JIKA TTL=0, PAKET DI-DROP.</a:t>
            </a:r>
          </a:p>
          <a:p>
            <a:pPr algn="l" marL="492631" indent="-246315" lvl="1">
              <a:lnSpc>
                <a:spcPts val="3810"/>
              </a:lnSpc>
              <a:buAutoNum type="arabicPeriod" startAt="1"/>
            </a:pP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CHECKSUM RECOMPUTATION: MENGHITUNG ULANG CHECKSUM HEADER SECARA PARALEL (DATAFLOW) AKIBAT 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P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ERUBAHAN NI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LAI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TTL .</a:t>
            </a:r>
          </a:p>
          <a:p>
            <a:pPr algn="l" marL="492631" indent="-246315" lvl="1">
              <a:lnSpc>
                <a:spcPts val="3810"/>
              </a:lnSpc>
              <a:buAutoNum type="arabicPeriod" startAt="1"/>
            </a:pP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FIREW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LL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FILTERIN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G: ME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ME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KS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SO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U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RCE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IP DA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DE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STI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ATION IP TERHADAP DAFTAR B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O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KI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 STA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D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ROM .</a:t>
            </a:r>
          </a:p>
          <a:p>
            <a:pPr algn="l" marL="492631" indent="-246315" lvl="1">
              <a:lnSpc>
                <a:spcPts val="3810"/>
              </a:lnSpc>
              <a:buAutoNum type="arabicPeriod" startAt="1"/>
            </a:pPr>
            <a:r>
              <a:rPr lang="en-US" b="true" sz="2281" spc="-68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DROP DECISION: LOGIKA KOMBINASIONAL MENENTUKAN APAKAH PAKET DITERUSKAN ATAU DIBUANG BERDASARKAN HASIL DARI KETIGA UNIT DI ATAS.</a:t>
            </a:r>
          </a:p>
          <a:p>
            <a:pPr algn="l" marL="0" indent="0" lvl="0">
              <a:lnSpc>
                <a:spcPts val="278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B1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6427609" y="897503"/>
            <a:ext cx="13763791" cy="8229600"/>
          </a:xfrm>
          <a:custGeom>
            <a:avLst/>
            <a:gdLst/>
            <a:ahLst/>
            <a:cxnLst/>
            <a:rect r="r" b="b" t="t" l="l"/>
            <a:pathLst>
              <a:path h="8229600" w="13763791">
                <a:moveTo>
                  <a:pt x="13763791" y="0"/>
                </a:moveTo>
                <a:lnTo>
                  <a:pt x="0" y="0"/>
                </a:lnTo>
                <a:lnTo>
                  <a:pt x="0" y="8229600"/>
                </a:lnTo>
                <a:lnTo>
                  <a:pt x="13763791" y="8229600"/>
                </a:lnTo>
                <a:lnTo>
                  <a:pt x="1376379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038017"/>
            <a:ext cx="9724572" cy="2992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45"/>
              </a:lnSpc>
            </a:pPr>
            <a:r>
              <a:rPr lang="en-US" b="true" sz="9799" spc="-979">
                <a:solidFill>
                  <a:srgbClr val="1E1E1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IMPL</a:t>
            </a:r>
            <a:r>
              <a:rPr lang="en-US" b="true" sz="9799" spc="-979" strike="noStrike" u="none">
                <a:solidFill>
                  <a:srgbClr val="1E1E1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EMENTASI - ARSITEK</a:t>
            </a:r>
            <a:r>
              <a:rPr lang="en-US" b="true" sz="9799" spc="-979" strike="noStrike" u="none">
                <a:solidFill>
                  <a:srgbClr val="1E1E1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TUR MODUL</a:t>
            </a:r>
            <a:r>
              <a:rPr lang="en-US" b="true" sz="9799" spc="-979" strike="noStrike" u="none">
                <a:solidFill>
                  <a:srgbClr val="1E1E1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288800"/>
            <a:ext cx="9724572" cy="332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b="true" sz="2199" spc="-65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C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ONTROL UNIT (MICROCONTROLLER):</a:t>
            </a:r>
          </a:p>
          <a:p>
            <a:pPr algn="l" marL="949959" indent="-316653" lvl="2">
              <a:lnSpc>
                <a:spcPts val="2683"/>
              </a:lnSpc>
              <a:buFont typeface="Arial"/>
              <a:buChar char="⚬"/>
            </a:pP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MENGGANTIKAN FSM HARDWIRED DENGAN INSTRUKSI MIKRO TERSIMPAN DALAM ROM (MODUL 9).</a:t>
            </a:r>
          </a:p>
          <a:p>
            <a:pPr algn="l" marL="949959" indent="-316653" lvl="2">
              <a:lnSpc>
                <a:spcPts val="2683"/>
              </a:lnSpc>
              <a:buFont typeface="Arial"/>
              <a:buChar char="⚬"/>
            </a:pP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MENGONTROL URUTAN AKTIVASI MO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DUL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LA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IN (TTL --&gt; CHECKSUM --&gt;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FIREWALL)</a:t>
            </a:r>
          </a:p>
          <a:p>
            <a:pPr algn="l">
              <a:lnSpc>
                <a:spcPts val="2683"/>
              </a:lnSpc>
            </a:pPr>
          </a:p>
          <a:p>
            <a:pPr algn="l" marL="474979" indent="-237490" lvl="1">
              <a:lnSpc>
                <a:spcPts val="2683"/>
              </a:lnSpc>
              <a:buFont typeface="Arial"/>
              <a:buChar char="•"/>
            </a:pP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DATAPATH:</a:t>
            </a:r>
          </a:p>
          <a:p>
            <a:pPr algn="l" marL="949959" indent="-316653" lvl="2">
              <a:lnSpc>
                <a:spcPts val="2683"/>
              </a:lnSpc>
              <a:buFont typeface="Arial"/>
              <a:buChar char="⚬"/>
            </a:pP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TERDIRI DA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RI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U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NIT PEMROSE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SAN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U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TAMA: TT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L_UN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IT, CHECKSUM_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UN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IT,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DAN FIR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EW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ALL_R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OM_CHECK</a:t>
            </a:r>
            <a:r>
              <a:rPr lang="en-US" b="true" sz="2199" spc="-6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ER </a:t>
            </a:r>
          </a:p>
          <a:p>
            <a:pPr algn="l" marL="0" indent="0" lvl="0">
              <a:lnSpc>
                <a:spcPts val="268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1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172728"/>
            <a:ext cx="10527999" cy="347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35"/>
              </a:lnSpc>
            </a:pPr>
            <a:r>
              <a:rPr lang="en-US" b="true" sz="11199" spc="-1119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FITUR U</a:t>
            </a:r>
            <a:r>
              <a:rPr lang="en-US" b="true" sz="11199" spc="-1119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NGGULAN IMPLEMENTASI</a:t>
            </a:r>
          </a:p>
          <a:p>
            <a:pPr algn="l" marL="0" indent="0" lvl="0">
              <a:lnSpc>
                <a:spcPts val="873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200006" y="2840850"/>
            <a:ext cx="4507398" cy="2936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17"/>
              </a:lnSpc>
              <a:spcBef>
                <a:spcPct val="0"/>
              </a:spcBef>
            </a:pPr>
            <a:r>
              <a:rPr lang="en-US" b="true" sz="2719" spc="-81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PARALLE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CHE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C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SU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(MOD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U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2): MENGGUN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KAN ADDER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REE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UNT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U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MEN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J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U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HK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AN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10 WOR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D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16-B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IT SE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CA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RA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DA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 S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TU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KL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US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WAKT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U.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69058" y="2840852"/>
            <a:ext cx="5149885" cy="293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18"/>
              </a:lnSpc>
              <a:spcBef>
                <a:spcPct val="0"/>
              </a:spcBef>
            </a:pPr>
            <a:r>
              <a:rPr lang="en-US" b="true" sz="2719" spc="-81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F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IR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EW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CO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MP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OR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(MOD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UL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6):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ME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NGGU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KAN FOR-GENERATE UNTUK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EM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B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U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 SIR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KU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IT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P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MBANDIN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G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PARAL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TER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H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ADA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P 10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U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AN IP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SE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CARA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OTOM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AT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IS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76192" y="2840852"/>
            <a:ext cx="4290239" cy="293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8"/>
              </a:lnSpc>
            </a:pPr>
            <a:r>
              <a:rPr lang="en-US" b="true" sz="2719" spc="-81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SEQU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NTI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AL LO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GIC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(MODUL 3):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LOGIKA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TTL M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ENGGUNAKAN B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LO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K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P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ROC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ESS YANG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SINK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ON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TERHADAP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CLOCK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UN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TUK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STA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BILIT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DATA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719" spc="-81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.</a:t>
            </a:r>
          </a:p>
          <a:p>
            <a:pPr algn="ctr">
              <a:lnSpc>
                <a:spcPts val="331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B1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290316"/>
            <a:ext cx="18288000" cy="6583509"/>
            <a:chOff x="0" y="0"/>
            <a:chExt cx="2833290" cy="10199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019958"/>
            </a:xfrm>
            <a:custGeom>
              <a:avLst/>
              <a:gdLst/>
              <a:ahLst/>
              <a:cxnLst/>
              <a:rect r="r" b="b" t="t" l="l"/>
              <a:pathLst>
                <a:path h="1019958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019958"/>
                  </a:lnTo>
                  <a:lnTo>
                    <a:pt x="0" y="1019958"/>
                  </a:lnTo>
                  <a:close/>
                </a:path>
              </a:pathLst>
            </a:custGeom>
            <a:blipFill>
              <a:blip r:embed="rId2"/>
              <a:stretch>
                <a:fillRect l="0" t="-40280" r="0" b="-4028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27425" y="1069265"/>
            <a:ext cx="8266826" cy="201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68"/>
              </a:lnSpc>
            </a:pPr>
            <a:r>
              <a:rPr lang="en-US" b="true" sz="9699" spc="-969">
                <a:solidFill>
                  <a:srgbClr val="1E1E1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HASI</a:t>
            </a:r>
            <a:r>
              <a:rPr lang="en-US" b="true" sz="9699" spc="-969" strike="noStrike" u="none">
                <a:solidFill>
                  <a:srgbClr val="1E1E1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 SINTESIS (RTL VIEWER)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85603" y="1019175"/>
            <a:ext cx="9812281" cy="2271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62"/>
              </a:lnSpc>
              <a:buFont typeface="Arial"/>
              <a:buChar char="•"/>
            </a:pPr>
            <a:r>
              <a:rPr lang="en-US" b="true" sz="2100" spc="-63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TE</a:t>
            </a:r>
            <a:r>
              <a:rPr lang="en-US" b="true" sz="2100" spc="-63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RLIHAT JELAS PEMISAHAN ANTARA JALUR DATA (BUS TEBAL 160-BIT) DAN JALUR KONTROL (GARIS TIPIS)</a:t>
            </a:r>
          </a:p>
          <a:p>
            <a:pPr algn="l" marL="453390" indent="-226695" lvl="1">
              <a:lnSpc>
                <a:spcPts val="2562"/>
              </a:lnSpc>
              <a:buFont typeface="Arial"/>
              <a:buChar char="•"/>
            </a:pPr>
            <a:r>
              <a:rPr lang="en-US" b="true" sz="2100" spc="-63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ALIRAN DATA BERSIFAT PIPELINED: REGISTER INPUT --&gt; TTL --&gt; CHECKSUM --&gt;FIREWALL</a:t>
            </a:r>
          </a:p>
          <a:p>
            <a:pPr algn="l" marL="453390" indent="-226695" lvl="1">
              <a:lnSpc>
                <a:spcPts val="2562"/>
              </a:lnSpc>
              <a:buFont typeface="Arial"/>
              <a:buChar char="•"/>
            </a:pPr>
            <a:r>
              <a:rPr lang="en-US" b="true" sz="2100" spc="-63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PENGGUNAAN MULTIPLEXER UNTUK MEMILIH PEMERIKSAAN SOURCE ATAU DESTINATION IP PADA FIREWALL</a:t>
            </a:r>
          </a:p>
          <a:p>
            <a:pPr algn="l" marL="0" indent="0" lvl="0">
              <a:lnSpc>
                <a:spcPts val="2562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0806" y="7158267"/>
            <a:ext cx="6587388" cy="2483994"/>
          </a:xfrm>
          <a:custGeom>
            <a:avLst/>
            <a:gdLst/>
            <a:ahLst/>
            <a:cxnLst/>
            <a:rect r="r" b="b" t="t" l="l"/>
            <a:pathLst>
              <a:path h="2483994" w="6587388">
                <a:moveTo>
                  <a:pt x="0" y="0"/>
                </a:moveTo>
                <a:lnTo>
                  <a:pt x="6587388" y="0"/>
                </a:lnTo>
                <a:lnTo>
                  <a:pt x="6587388" y="2483994"/>
                </a:lnTo>
                <a:lnTo>
                  <a:pt x="0" y="2483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0806" y="734032"/>
            <a:ext cx="18081362" cy="206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22"/>
              </a:lnSpc>
            </a:pPr>
            <a:r>
              <a:rPr lang="en-US" b="true" sz="9899" spc="-989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PENGUJIAN &amp; HASIL (T</a:t>
            </a:r>
            <a:r>
              <a:rPr lang="en-US" b="true" sz="9899" spc="-989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ESTING)</a:t>
            </a:r>
          </a:p>
          <a:p>
            <a:pPr algn="l" marL="0" indent="0" lvl="0">
              <a:lnSpc>
                <a:spcPts val="7622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07132"/>
            <a:ext cx="11587884" cy="482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6"/>
              </a:lnSpc>
            </a:pPr>
            <a:r>
              <a:rPr lang="en-US" b="true" sz="2866" spc="-85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</a:t>
            </a:r>
            <a:r>
              <a:rPr lang="en-US" b="true" sz="2866" spc="-8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ETODOLOGI:</a:t>
            </a:r>
          </a:p>
          <a:p>
            <a:pPr algn="l" marL="618792" indent="-309396" lvl="1">
              <a:lnSpc>
                <a:spcPts val="3496"/>
              </a:lnSpc>
              <a:buFont typeface="Arial"/>
              <a:buChar char="•"/>
            </a:pPr>
            <a:r>
              <a:rPr lang="en-US" b="true" sz="2866" spc="-8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SIMULASI MENGGUNAKAN MODELSIM DE</a:t>
            </a:r>
            <a:r>
              <a:rPr lang="en-US" b="true" sz="2866" spc="-8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NGAN TEKNIK ASSERTI</a:t>
            </a:r>
            <a:r>
              <a:rPr lang="en-US" b="true" sz="2866" spc="-8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O</a:t>
            </a:r>
            <a:r>
              <a:rPr lang="en-US" b="true" sz="2866" spc="-8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N-B</a:t>
            </a:r>
            <a:r>
              <a:rPr lang="en-US" b="true" sz="2866" spc="-8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ASED VER</a:t>
            </a:r>
            <a:r>
              <a:rPr lang="en-US" b="true" sz="2866" spc="-8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IF</a:t>
            </a:r>
            <a:r>
              <a:rPr lang="en-US" b="true" sz="2866" spc="-8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IC</a:t>
            </a:r>
            <a:r>
              <a:rPr lang="en-US" b="true" sz="2866" spc="-8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ATION (MODUL</a:t>
            </a:r>
            <a:r>
              <a:rPr lang="en-US" b="true" sz="2866" spc="-8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 4)</a:t>
            </a:r>
            <a:r>
              <a:rPr lang="en-US" b="true" sz="2866" spc="-8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.</a:t>
            </a:r>
          </a:p>
          <a:p>
            <a:pPr algn="l" marL="0" indent="0" lvl="0">
              <a:lnSpc>
                <a:spcPts val="3496"/>
              </a:lnSpc>
            </a:pPr>
          </a:p>
          <a:p>
            <a:pPr algn="l">
              <a:lnSpc>
                <a:spcPts val="3496"/>
              </a:lnSpc>
            </a:pPr>
            <a:r>
              <a:rPr lang="en-US" b="true" sz="2866" spc="-8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SKENARIO UJI UTAMA:</a:t>
            </a:r>
          </a:p>
          <a:p>
            <a:pPr algn="l" marL="618792" indent="-309396" lvl="1">
              <a:lnSpc>
                <a:spcPts val="3496"/>
              </a:lnSpc>
              <a:buAutoNum type="arabicPeriod" startAt="1"/>
            </a:pPr>
            <a:r>
              <a:rPr lang="en-US" b="true" sz="2866" spc="-8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TTL EXPIRY: INPUT TTL=1 → OUTPUT DROP='1'.</a:t>
            </a:r>
          </a:p>
          <a:p>
            <a:pPr algn="l" marL="618792" indent="-309396" lvl="1">
              <a:lnSpc>
                <a:spcPts val="3496"/>
              </a:lnSpc>
              <a:buAutoNum type="arabicPeriod" startAt="1"/>
            </a:pPr>
            <a:r>
              <a:rPr lang="en-US" b="true" sz="2866" spc="-8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BLOCKED IP: INPUT IP TERDAFTAR (MISAL 10.1.0.5) → OUTPUT DROP='1'</a:t>
            </a:r>
          </a:p>
          <a:p>
            <a:pPr algn="l" marL="618792" indent="-309396" lvl="1">
              <a:lnSpc>
                <a:spcPts val="3496"/>
              </a:lnSpc>
              <a:buAutoNum type="arabicPeriod" startAt="1"/>
            </a:pPr>
            <a:r>
              <a:rPr lang="en-US" b="true" sz="2866" spc="-85" strike="noStrike" u="non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NORMAL PACKET: IP AMAN &amp; TTL&gt;1 → OUTPUT DROP='0', CHECKSUM VALID.</a:t>
            </a:r>
          </a:p>
          <a:p>
            <a:pPr algn="l" marL="0" indent="0" lvl="0">
              <a:lnSpc>
                <a:spcPts val="349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14633" y="7215576"/>
            <a:ext cx="6587388" cy="2483994"/>
          </a:xfrm>
          <a:custGeom>
            <a:avLst/>
            <a:gdLst/>
            <a:ahLst/>
            <a:cxnLst/>
            <a:rect r="r" b="b" t="t" l="l"/>
            <a:pathLst>
              <a:path h="2483994" w="6587388">
                <a:moveTo>
                  <a:pt x="0" y="0"/>
                </a:moveTo>
                <a:lnTo>
                  <a:pt x="6587388" y="0"/>
                </a:lnTo>
                <a:lnTo>
                  <a:pt x="6587388" y="2483995"/>
                </a:lnTo>
                <a:lnTo>
                  <a:pt x="0" y="24839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8337" y="3541294"/>
            <a:ext cx="8917234" cy="5796202"/>
          </a:xfrm>
          <a:custGeom>
            <a:avLst/>
            <a:gdLst/>
            <a:ahLst/>
            <a:cxnLst/>
            <a:rect r="r" b="b" t="t" l="l"/>
            <a:pathLst>
              <a:path h="5796202" w="8917234">
                <a:moveTo>
                  <a:pt x="0" y="0"/>
                </a:moveTo>
                <a:lnTo>
                  <a:pt x="8917234" y="0"/>
                </a:lnTo>
                <a:lnTo>
                  <a:pt x="8917234" y="5796202"/>
                </a:lnTo>
                <a:lnTo>
                  <a:pt x="0" y="5796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39670" y="3735694"/>
            <a:ext cx="6819630" cy="3152131"/>
          </a:xfrm>
          <a:custGeom>
            <a:avLst/>
            <a:gdLst/>
            <a:ahLst/>
            <a:cxnLst/>
            <a:rect r="r" b="b" t="t" l="l"/>
            <a:pathLst>
              <a:path h="3152131" w="6819630">
                <a:moveTo>
                  <a:pt x="0" y="0"/>
                </a:moveTo>
                <a:lnTo>
                  <a:pt x="6819630" y="0"/>
                </a:lnTo>
                <a:lnTo>
                  <a:pt x="6819630" y="3152132"/>
                </a:lnTo>
                <a:lnTo>
                  <a:pt x="0" y="3152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0806" y="734032"/>
            <a:ext cx="18081362" cy="206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22"/>
              </a:lnSpc>
            </a:pPr>
            <a:r>
              <a:rPr lang="en-US" b="true" sz="9899" spc="-989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PENGUJIAN &amp; HASIL (T</a:t>
            </a:r>
            <a:r>
              <a:rPr lang="en-US" b="true" sz="9899" spc="-989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ESTING)</a:t>
            </a:r>
          </a:p>
          <a:p>
            <a:pPr algn="l" marL="0" indent="0" lvl="0">
              <a:lnSpc>
                <a:spcPts val="762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913099"/>
            <a:ext cx="11587884" cy="176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b="true" sz="2866" spc="-85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HASIL:</a:t>
            </a:r>
          </a:p>
          <a:p>
            <a:pPr algn="l" marL="618791" indent="-309395" lvl="1">
              <a:lnSpc>
                <a:spcPts val="3496"/>
              </a:lnSpc>
              <a:buFont typeface="Arial"/>
              <a:buChar char="•"/>
            </a:pPr>
            <a:r>
              <a:rPr lang="en-US" b="true" sz="2866" spc="-85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PASSED: 39 skenario pengujian berhasil dilewati tanpa kegagalan.</a:t>
            </a:r>
          </a:p>
          <a:p>
            <a:pPr algn="l">
              <a:lnSpc>
                <a:spcPts val="349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95360" y="1466850"/>
            <a:ext cx="7177440" cy="1264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35"/>
              </a:lnSpc>
            </a:pPr>
            <a:r>
              <a:rPr lang="en-US" b="true" sz="11199" spc="-1119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</a:t>
            </a:r>
            <a:r>
              <a:rPr lang="en-US" b="true" sz="11199" spc="-1119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</a:t>
            </a:r>
            <a:r>
              <a:rPr lang="en-US" b="true" sz="11199" spc="-1119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SIMPULA</a:t>
            </a:r>
            <a:r>
              <a:rPr lang="en-US" b="true" sz="11199" spc="-1119" strike="noStrike" u="none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96030" y="4378744"/>
            <a:ext cx="2006587" cy="138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73"/>
              </a:lnSpc>
            </a:pPr>
            <a:r>
              <a:rPr lang="en-US" b="true" sz="12401" spc="-1240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96030" y="7603136"/>
            <a:ext cx="2006587" cy="138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73"/>
              </a:lnSpc>
            </a:pPr>
            <a:r>
              <a:rPr lang="en-US" b="true" sz="12401" spc="-1240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59727" y="4378744"/>
            <a:ext cx="2006587" cy="138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73"/>
              </a:lnSpc>
            </a:pPr>
            <a:r>
              <a:rPr lang="en-US" b="true" sz="12401" spc="-1240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28444" y="4268856"/>
            <a:ext cx="4954831" cy="1076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8"/>
              </a:lnSpc>
            </a:pPr>
            <a:r>
              <a:rPr lang="en-US" sz="2093" spc="-62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In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tegrasi Penuh: Berhasil menggabungkan Modul 2–9 (Dataflow, Behavioral, FSM, Microcode) menjadi sistem yang fungsional.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02616" y="7473580"/>
            <a:ext cx="4406486" cy="1076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8"/>
              </a:lnSpc>
              <a:spcBef>
                <a:spcPct val="0"/>
              </a:spcBef>
            </a:pPr>
            <a:r>
              <a:rPr lang="en-US" sz="2093" spc="-62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K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iner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ja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T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in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gg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: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P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em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r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o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s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e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s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an 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h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ar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dw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ar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e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m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e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mb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eri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k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n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l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atensi 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y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ng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de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t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er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mi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n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is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t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ik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d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b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an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d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ngkan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solus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 s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of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t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w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ar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e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85485" y="4268856"/>
            <a:ext cx="4406486" cy="1438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8"/>
              </a:lnSpc>
              <a:spcBef>
                <a:spcPct val="0"/>
              </a:spcBef>
            </a:pPr>
            <a:r>
              <a:rPr lang="en-US" sz="2093" spc="-62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Fl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e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ks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b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l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it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as: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Pe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n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gg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u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na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n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M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ic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r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o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c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o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d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e 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ROM m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e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m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u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dahk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an p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erub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h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n al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ur pe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m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ro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s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e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s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n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tan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pa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me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ro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mbak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ula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ng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se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lu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ru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h ra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n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gka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ian 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log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k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10194" y="591156"/>
            <a:ext cx="3969070" cy="2844500"/>
          </a:xfrm>
          <a:custGeom>
            <a:avLst/>
            <a:gdLst/>
            <a:ahLst/>
            <a:cxnLst/>
            <a:rect r="r" b="b" t="t" l="l"/>
            <a:pathLst>
              <a:path h="2844500" w="3969070">
                <a:moveTo>
                  <a:pt x="0" y="0"/>
                </a:moveTo>
                <a:lnTo>
                  <a:pt x="3969071" y="0"/>
                </a:lnTo>
                <a:lnTo>
                  <a:pt x="3969071" y="2844500"/>
                </a:lnTo>
                <a:lnTo>
                  <a:pt x="0" y="2844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878898" y="7603118"/>
            <a:ext cx="2006587" cy="1389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73"/>
              </a:lnSpc>
            </a:pPr>
            <a:r>
              <a:rPr lang="en-US" b="true" sz="12401" spc="-1240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85485" y="7473571"/>
            <a:ext cx="4406486" cy="1076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8"/>
              </a:lnSpc>
              <a:spcBef>
                <a:spcPct val="0"/>
              </a:spcBef>
            </a:pPr>
            <a:r>
              <a:rPr lang="en-US" sz="2093" spc="-62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Val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idas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Kua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t: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Desa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n terbukti s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ynth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es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iz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able dan lolos verifika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si</a:t>
            </a:r>
            <a:r>
              <a:rPr lang="en-US" sz="2093" spc="-62" strike="noStrike" u="none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fungsional menyeluruh.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0973" y="1501759"/>
            <a:ext cx="16230600" cy="7283482"/>
          </a:xfrm>
          <a:custGeom>
            <a:avLst/>
            <a:gdLst/>
            <a:ahLst/>
            <a:cxnLst/>
            <a:rect r="r" b="b" t="t" l="l"/>
            <a:pathLst>
              <a:path h="7283482" w="16230600">
                <a:moveTo>
                  <a:pt x="0" y="0"/>
                </a:moveTo>
                <a:lnTo>
                  <a:pt x="16230600" y="0"/>
                </a:lnTo>
                <a:lnTo>
                  <a:pt x="16230600" y="7283482"/>
                </a:lnTo>
                <a:lnTo>
                  <a:pt x="0" y="7283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23643" y="3565837"/>
            <a:ext cx="9240714" cy="417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8"/>
              </a:lnSpc>
            </a:pPr>
            <a:r>
              <a:rPr lang="en-US" b="true" sz="21554" spc="-2155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5654" y="9459133"/>
            <a:ext cx="2355564" cy="25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7"/>
              </a:lnSpc>
            </a:pPr>
            <a:r>
              <a:rPr lang="en-US" b="true" sz="2041" spc="-57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PRESENTATION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56667" y="9459133"/>
            <a:ext cx="1286508" cy="25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37"/>
              </a:lnSpc>
            </a:pPr>
            <a:r>
              <a:rPr lang="en-US" b="true" sz="2041" spc="-57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2025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27414" y="9459150"/>
            <a:ext cx="3233173" cy="2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37"/>
              </a:lnSpc>
            </a:pPr>
            <a:r>
              <a:rPr lang="en-US" b="true" sz="2041" spc="-57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GROUP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DAG616d2faM</dc:identifier>
  <dcterms:modified xsi:type="dcterms:W3CDTF">2011-08-01T06:04:30Z</dcterms:modified>
  <cp:revision>1</cp:revision>
  <dc:title>Green and Beige Illustration Group Project Presentation</dc:title>
</cp:coreProperties>
</file>